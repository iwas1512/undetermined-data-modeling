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Implied volatility (%)</c:v>
                </c:pt>
              </c:strCache>
            </c:strRef>
          </c:tx>
          <c:spPr>
            <a:solidFill>
              <a:srgbClr val="0071E3"/>
            </a:solidFill>
            <a:ln w="25400" cap="flat">
              <a:solidFill>
                <a:srgbClr val="0071E3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0071E3"/>
              </a:solidFill>
              <a:ln w="9525" cap="flat">
                <a:solidFill>
                  <a:srgbClr val="0071E3"/>
                </a:solidFill>
                <a:prstDash val="solid"/>
                <a:round/>
              </a:ln>
              <a:effectLst/>
            </c:spPr>
          </c:marker>
          <c:xVal>
            <c:numRef>
              <c:f>Sheet1!$A$2:$A$22</c:f>
              <c:numCache>
                <c:formatCode>General</c:formatCode>
                <c:ptCount val="21"/>
                <c:pt idx="0">
                  <c:v>265</c:v>
                </c:pt>
                <c:pt idx="1">
                  <c:v>275</c:v>
                </c:pt>
                <c:pt idx="2">
                  <c:v>285</c:v>
                </c:pt>
                <c:pt idx="3">
                  <c:v>290</c:v>
                </c:pt>
                <c:pt idx="4">
                  <c:v>300</c:v>
                </c:pt>
                <c:pt idx="5">
                  <c:v>305</c:v>
                </c:pt>
                <c:pt idx="6">
                  <c:v>315</c:v>
                </c:pt>
                <c:pt idx="7">
                  <c:v>320</c:v>
                </c:pt>
                <c:pt idx="8">
                  <c:v>325</c:v>
                </c:pt>
                <c:pt idx="9">
                  <c:v>330</c:v>
                </c:pt>
                <c:pt idx="10">
                  <c:v>335</c:v>
                </c:pt>
                <c:pt idx="11">
                  <c:v>340</c:v>
                </c:pt>
                <c:pt idx="12">
                  <c:v>345</c:v>
                </c:pt>
                <c:pt idx="13">
                  <c:v>355</c:v>
                </c:pt>
                <c:pt idx="14">
                  <c:v>360</c:v>
                </c:pt>
                <c:pt idx="15">
                  <c:v>365</c:v>
                </c:pt>
                <c:pt idx="16">
                  <c:v>375</c:v>
                </c:pt>
                <c:pt idx="17">
                  <c:v>385</c:v>
                </c:pt>
                <c:pt idx="18">
                  <c:v>390</c:v>
                </c:pt>
                <c:pt idx="19">
                  <c:v>400</c:v>
                </c:pt>
                <c:pt idx="20">
                  <c:v>415</c:v>
                </c:pt>
              </c:numCache>
            </c:numRef>
          </c:xVal>
          <c:yVal>
            <c:numRef>
              <c:f>Sheet1!$B$2:$B$22</c:f>
              <c:numCache>
                <c:formatCode>General</c:formatCode>
                <c:ptCount val="21"/>
                <c:pt idx="0">
                  <c:v>38.04</c:v>
                </c:pt>
                <c:pt idx="1">
                  <c:v>35.78</c:v>
                </c:pt>
                <c:pt idx="2">
                  <c:v>33.21</c:v>
                </c:pt>
                <c:pt idx="3">
                  <c:v>32.15</c:v>
                </c:pt>
                <c:pt idx="4">
                  <c:v>29.77</c:v>
                </c:pt>
                <c:pt idx="5">
                  <c:v>29.1</c:v>
                </c:pt>
                <c:pt idx="6">
                  <c:v>27.75</c:v>
                </c:pt>
                <c:pt idx="7">
                  <c:v>27.49</c:v>
                </c:pt>
                <c:pt idx="8">
                  <c:v>26.85</c:v>
                </c:pt>
                <c:pt idx="9">
                  <c:v>26.64</c:v>
                </c:pt>
                <c:pt idx="10">
                  <c:v>26.63</c:v>
                </c:pt>
                <c:pt idx="11">
                  <c:v>25.65</c:v>
                </c:pt>
                <c:pt idx="12">
                  <c:v>26.06</c:v>
                </c:pt>
                <c:pt idx="13">
                  <c:v>25.64</c:v>
                </c:pt>
                <c:pt idx="14">
                  <c:v>25.64</c:v>
                </c:pt>
                <c:pt idx="15">
                  <c:v>25.22</c:v>
                </c:pt>
                <c:pt idx="16">
                  <c:v>25.1</c:v>
                </c:pt>
                <c:pt idx="17">
                  <c:v>25.48</c:v>
                </c:pt>
                <c:pt idx="18">
                  <c:v>25.66</c:v>
                </c:pt>
                <c:pt idx="19">
                  <c:v>29.91</c:v>
                </c:pt>
                <c:pt idx="20">
                  <c:v>33.11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420"/>
          <c:min val="260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E6E73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E6E73"/>
                    </a:solidFill>
                    <a:latin typeface="Arial"/>
                  </a:rPr>
                  <a:t>Strike price ($)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E73"/>
                </a:solidFill>
                <a:latin typeface="Helvetica Neu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40"/>
          <c:min val="20"/>
        </c:scaling>
        <c:delete val="0"/>
        <c:axPos val="l"/>
        <c:majorGridlines>
          <c:spPr>
            <a:ln w="6350" cap="flat">
              <a:solidFill>
                <a:srgbClr val="D2D2D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E6E73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E6E73"/>
                    </a:solidFill>
                    <a:latin typeface="Arial"/>
                  </a:rPr>
                  <a:t>Expected move (%)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E73"/>
                </a:solidFill>
                <a:latin typeface="Helvetica Neue"/>
              </a:defRPr>
            </a:pPr>
            <a:endParaRPr lang="en-US"/>
          </a:p>
        </c:txPr>
        <c:crossAx val="2094734554"/>
        <c:crosses val="autoZero"/>
        <c:crossBetween val="midCat"/>
        <c:majorUnit val="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question: do traders overestimate how much stocks will move? About 45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option prices contain the traders' guess. Use the Apple numbers as the hook: expected 26.6% vs actual 22.4%. Then read the two hypotheses. About 90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the data is free and we already pulled it. Point at the chart: this is real Apple data from the latest snapshot. Be upfront about the two limits. About 90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steps left to right. Name the baseline so the class sees how we will judge the models. The final product is interactive. About 90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what the class will see by Nov 13 and how the work is split so everyone owns one analysis and two visuals. About 60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CS 418 Final Project Proposal  ·  Team UIC Traders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00584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 Traders Overestimate Stock Moves?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 traders overestimate how much stocks will move?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8046720" cy="0"/>
          </a:xfrm>
          <a:prstGeom prst="line">
            <a:avLst/>
          </a:prstGeom>
          <a:noFill/>
          <a:ln w="6350">
            <a:solidFill>
              <a:srgbClr val="3A3A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200400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Kaled Dahleh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6557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kdahl3@uic.edu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4845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github.com/KaledDahleh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157984" y="3200400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Musa Tabally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157984" y="346557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mtaba4@uic.edu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157984" y="364845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github.com/MusaTabally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767328" y="3200400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Neo Uy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767328" y="346557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nuy@uic.edu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767328" y="364845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github.com/NeoUy19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376672" y="3200400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Anlil Iwas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376672" y="346557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aiwas2@uic.edu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376672" y="364845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github.com/Iwas1512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986016" y="3200400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Adi Latic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986016" y="346557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alatic2@uic.edu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986016" y="364845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github.com/ADILATIC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8046720" cy="0"/>
          </a:xfrm>
          <a:prstGeom prst="line">
            <a:avLst/>
          </a:prstGeom>
          <a:noFill/>
          <a:ln w="6350">
            <a:solidFill>
              <a:srgbClr val="3A3A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22452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Repo  </a:t>
            </a:r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github.com/Iwas1512/UnDetermined-Data-Modeling</a:t>
            </a:r>
            <a:pPr algn="ctr" indent="0" marL="0">
              <a:buNone/>
            </a:pPr>
            <a:r>
              <a:rPr lang="en-US" sz="1050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     Pitch recording  </a:t>
            </a:r>
            <a:pPr algn="ctr" indent="0" marL="0">
              <a:buNone/>
            </a:pPr>
            <a:r>
              <a:rPr lang="en-US" sz="1050" dirty="0">
                <a:solidFill>
                  <a:srgbClr val="2997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[ paste Zoom cloud link ]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 traders overestimate stock moves?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53312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question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Option prices show how much traders think a stock will move over the next month. We compare that guess to how much the stock actually moved. Do traders usually guess too high, and can we predict when?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76272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2316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traders consistently guess too high, people buying options keep overpaying. That matters to anyone using options to protect their savings.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99232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we picked it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4612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of us interned at an options trading firm this summer and wanted to test this with free, public data.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94960" y="1371600"/>
            <a:ext cx="3200400" cy="960120"/>
          </a:xfrm>
          <a:prstGeom prst="roundRect">
            <a:avLst>
              <a:gd name="adj" fmla="val 15238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23560" y="15544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26.6%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55448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traders expected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94960" y="2450592"/>
            <a:ext cx="3200400" cy="960120"/>
          </a:xfrm>
          <a:prstGeom prst="roundRect">
            <a:avLst>
              <a:gd name="adj" fmla="val 15238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23560" y="263347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22.4%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2633472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actually happened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35021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Apple, Sep 30, 2026 · yearly rate · source: DoltHub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3931920" cy="868680"/>
          </a:xfrm>
          <a:prstGeom prst="roundRect">
            <a:avLst>
              <a:gd name="adj" fmla="val 16842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9593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Hypothesis 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160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Traders' guesses are too high most of the time.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840480"/>
            <a:ext cx="3931920" cy="868680"/>
          </a:xfrm>
          <a:prstGeom prst="roundRect">
            <a:avLst>
              <a:gd name="adj" fmla="val 16842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39593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Hypothesis 2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4160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Traders pay more to protect against drops than to bet on gains, especially in rough markets.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DoltHub options database, 2019 to 2026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371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DoltHub "options" database. Free, no signup. We ran live queries against it on Oct 1, 2026.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837944"/>
            <a:ext cx="411480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Coverage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920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Feb 2019 to Sep 30, 2026. New snapshots about 3 times a week.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386584"/>
            <a:ext cx="411480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6888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What's in it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46888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 option: date, stock, expiration, strike, call or put, bid, ask, and implied volatility (the traders' guess). A second table has the guess and the actual move per stock.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264408"/>
            <a:ext cx="411480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34670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Size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34670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About 150 rows per stock per snapshot. For ~10 well-known stocks we estimate 1M+ rows, all numeric tables.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411480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05993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Effort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05993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Low. A short Python script downloads it with SQL.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361688"/>
            <a:ext cx="411480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44398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Limits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444398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Only 3 expiration dates per snapshot, and no trading volume.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0" y="1371600"/>
            <a:ext cx="3566160" cy="3337560"/>
          </a:xfrm>
          <a:prstGeom prst="roundRect">
            <a:avLst>
              <a:gd name="adj" fmla="val 4384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57800" y="15544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Apple: expected move by strike price, Sep 30, 2026</a:t>
            </a:r>
            <a:endParaRPr lang="en-US" sz="10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5120640" y="1783080"/>
          <a:ext cx="338328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 txBox="1"/>
          <p:nvPr/>
        </p:nvSpPr>
        <p:spPr>
          <a:xfrm>
            <a:off x="5257800" y="40690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dot is a real option expiring Oct 30. Options far from today's price (~$335) are priced for bigger moves, so the curve rises at both ends.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raw prices to a tool anyone can use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874520" cy="2148840"/>
          </a:xfrm>
          <a:prstGeom prst="roundRect">
            <a:avLst>
              <a:gd name="adj" fmla="val 7805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5727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7830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Collect &amp; clean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30552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Pull about 10 stocks with Python. Drop broken quotes (zero bids, extreme values). Line up dates across both tables.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371600"/>
            <a:ext cx="1874520" cy="2148840"/>
          </a:xfrm>
          <a:prstGeom prst="roundRect">
            <a:avLst>
              <a:gd name="adj" fmla="val 7805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07208" y="15727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807208" y="17830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Explore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807208" y="2130552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Chart each stock's curve, then see how it shifts over time and around big news.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874520" cy="2148840"/>
          </a:xfrm>
          <a:prstGeom prst="roundRect">
            <a:avLst>
              <a:gd name="adj" fmla="val 7805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64608" y="15727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864608" y="17830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Predict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64608" y="2130552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Will the stock move less than traders expected? We try logistic regression, a random forest, and clustering. Baseline: always guess "yes."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0840" y="1371600"/>
            <a:ext cx="1874520" cy="2148840"/>
          </a:xfrm>
          <a:prstGeom prst="roundRect">
            <a:avLst>
              <a:gd name="adj" fmla="val 7805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22008" y="15727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922008" y="17830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922008" y="2130552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interactive page: pick a stock and date, see its curve and whether we think traders guessed too high.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7947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we expect to find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0233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Traders guess too high most of the time, but not right before big drops.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37947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Scope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40233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About 10 stocks, 2019 to 2026. Our direction may shift before the progress report.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Deliverables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Progress report goals and roles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By the Nov 13 progress report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Cleaned dataset and scripts in our repo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292608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0848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5+ charts, each tied to a question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386584"/>
            <a:ext cx="292608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4780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models compared against the baseline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779776"/>
            <a:ext cx="292608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87121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First version of the interactive page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72968"/>
            <a:ext cx="292608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5204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749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Pick the stock list, pull the data, and draw the first charts.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840480" y="1371600"/>
            <a:ext cx="4754880" cy="3337560"/>
          </a:xfrm>
          <a:prstGeom prst="roundRect">
            <a:avLst>
              <a:gd name="adj" fmla="val 4384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0" y="1481328"/>
          <a:ext cx="4389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783080"/>
                <a:gridCol w="16002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E6E7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Owner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00" marR="5486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E6E7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Analysis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00" marR="5486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E6E7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Two visuals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00" marR="5486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1D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Kaled Dahleh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00" marR="5486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1D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Curve fit: expected move vs. strike price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00" marR="5486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E7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Curve chart; fit vs. actual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00" marR="5486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1D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Anlil Iwas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00" marR="5486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1D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Logistic regression: did traders guess too high?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00" marR="5486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E7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Expected vs. actual; accuracy by stock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00" marR="5486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1D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Adi Latic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00" marR="5486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1D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Random forest on the same question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00" marR="5486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E7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drives the prediction; errors over time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00" marR="5486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1D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Neo Uy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00" marR="5486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1D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Clustering stocks by curve shape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00" marR="5486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E7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Cluster map; curves by group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00" marR="5486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1D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Musa Tabally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00" marR="5486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1D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Statistical test: expected vs. actual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00" marR="5486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E7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Gap over time; heatmap by month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00" marR="5486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4114800" y="431596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member: 1 analysis + 2 visuals. Team extra: the interactive page.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 Traders Overestimate Stock Moves? - CS 418 Project Proposal</dc:title>
  <dc:subject>PptxGenJS Presentation</dc:subject>
  <dc:creator>PptxGenJS</dc:creator>
  <cp:lastModifiedBy>PptxGenJS</cp:lastModifiedBy>
  <cp:revision>1</cp:revision>
  <dcterms:created xsi:type="dcterms:W3CDTF">2026-10-01T21:41:35Z</dcterms:created>
  <dcterms:modified xsi:type="dcterms:W3CDTF">2026-10-01T21:41:35Z</dcterms:modified>
</cp:coreProperties>
</file>