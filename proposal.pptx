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Implied volatility (%)</c:v>
                </c:pt>
              </c:strCache>
            </c:strRef>
          </c:tx>
          <c:spPr>
            <a:solidFill>
              <a:srgbClr val="FF6B4A"/>
            </a:solidFill>
            <a:ln w="28575" cap="flat">
              <a:solidFill>
                <a:srgbClr val="FF6B4A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F6B4A"/>
              </a:solidFill>
              <a:ln w="9525" cap="flat">
                <a:solidFill>
                  <a:srgbClr val="FF6B4A"/>
                </a:solidFill>
                <a:prstDash val="solid"/>
                <a:round/>
              </a:ln>
              <a:effectLst/>
            </c:spPr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265</c:v>
                </c:pt>
                <c:pt idx="1">
                  <c:v>275</c:v>
                </c:pt>
                <c:pt idx="2">
                  <c:v>285</c:v>
                </c:pt>
                <c:pt idx="3">
                  <c:v>290</c:v>
                </c:pt>
                <c:pt idx="4">
                  <c:v>300</c:v>
                </c:pt>
                <c:pt idx="5">
                  <c:v>305</c:v>
                </c:pt>
                <c:pt idx="6">
                  <c:v>315</c:v>
                </c:pt>
                <c:pt idx="7">
                  <c:v>320</c:v>
                </c:pt>
                <c:pt idx="8">
                  <c:v>325</c:v>
                </c:pt>
                <c:pt idx="9">
                  <c:v>330</c:v>
                </c:pt>
                <c:pt idx="10">
                  <c:v>335</c:v>
                </c:pt>
                <c:pt idx="11">
                  <c:v>340</c:v>
                </c:pt>
                <c:pt idx="12">
                  <c:v>345</c:v>
                </c:pt>
                <c:pt idx="13">
                  <c:v>355</c:v>
                </c:pt>
                <c:pt idx="14">
                  <c:v>360</c:v>
                </c:pt>
                <c:pt idx="15">
                  <c:v>365</c:v>
                </c:pt>
                <c:pt idx="16">
                  <c:v>375</c:v>
                </c:pt>
                <c:pt idx="17">
                  <c:v>385</c:v>
                </c:pt>
                <c:pt idx="18">
                  <c:v>390</c:v>
                </c:pt>
                <c:pt idx="19">
                  <c:v>400</c:v>
                </c:pt>
                <c:pt idx="20">
                  <c:v>415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38.04</c:v>
                </c:pt>
                <c:pt idx="1">
                  <c:v>35.78</c:v>
                </c:pt>
                <c:pt idx="2">
                  <c:v>33.21</c:v>
                </c:pt>
                <c:pt idx="3">
                  <c:v>32.15</c:v>
                </c:pt>
                <c:pt idx="4">
                  <c:v>29.77</c:v>
                </c:pt>
                <c:pt idx="5">
                  <c:v>29.1</c:v>
                </c:pt>
                <c:pt idx="6">
                  <c:v>27.75</c:v>
                </c:pt>
                <c:pt idx="7">
                  <c:v>27.49</c:v>
                </c:pt>
                <c:pt idx="8">
                  <c:v>26.85</c:v>
                </c:pt>
                <c:pt idx="9">
                  <c:v>26.64</c:v>
                </c:pt>
                <c:pt idx="10">
                  <c:v>26.63</c:v>
                </c:pt>
                <c:pt idx="11">
                  <c:v>25.65</c:v>
                </c:pt>
                <c:pt idx="12">
                  <c:v>26.06</c:v>
                </c:pt>
                <c:pt idx="13">
                  <c:v>25.64</c:v>
                </c:pt>
                <c:pt idx="14">
                  <c:v>25.64</c:v>
                </c:pt>
                <c:pt idx="15">
                  <c:v>25.22</c:v>
                </c:pt>
                <c:pt idx="16">
                  <c:v>25.1</c:v>
                </c:pt>
                <c:pt idx="17">
                  <c:v>25.48</c:v>
                </c:pt>
                <c:pt idx="18">
                  <c:v>25.66</c:v>
                </c:pt>
                <c:pt idx="19">
                  <c:v>29.91</c:v>
                </c:pt>
                <c:pt idx="20">
                  <c:v>33.11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420"/>
          <c:min val="26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7371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F7371"/>
                    </a:solidFill>
                    <a:latin typeface="Arial"/>
                  </a:rPr>
                  <a:t>Strike price ($)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3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40"/>
          <c:min val="20"/>
        </c:scaling>
        <c:delete val="0"/>
        <c:axPos val="l"/>
        <c:majorGridlines>
          <c:spPr>
            <a:ln w="6350" cap="flat">
              <a:solidFill>
                <a:srgbClr val="CFE0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7371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F7371"/>
                    </a:solidFill>
                    <a:latin typeface="Arial"/>
                  </a:rPr>
                  <a:t>Expected move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3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question: do traders overestimate how much stocks will move? About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option prices contain the traders' guess. Use the Apple numbers as the hook: expected 26.6% vs actual 22.4%. Then read the two hypotheses.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the data is free and we already pulled it. Point at the chart: this is real Apple data from yesterday's snapshot. Be upfront about the two limits.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 left to right. Name the baseline so the class sees how we will judge the models. The final product is interactive. About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the class will see by Nov 13 and how the work is split so everyone owns one analysis and two visuals. About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418 · FINAL PROJECT PROPOSAL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Smile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traders overestimate how much stocks will move?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81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TEAM NAME 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5643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484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repo link ]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8678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RECORDING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788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Zoom cloud link 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50292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173B3A"/>
          </a:solidFill>
          <a:ln w="12700">
            <a:solidFill>
              <a:srgbClr val="173B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7132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051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Kaled Dahleh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7465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Musa Tabally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0391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4414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Uy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73405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136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Anlil Iwas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4290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831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 Latic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1239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netid ]@uic.edu   ·   github.com/[ handle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traders overestimate stock moves?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prices show how much traders think a stock will move over the next month. We compare that guess to how much the stock actually moved. Do traders usually guess too high, and can we predict when?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traders guess too high again and again, people buying options keep overpaying. That matters to anyone using options to protect their savings.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picked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us interned at an options trading firm this summer and wanted to test this with free, public data.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0" y="1325880"/>
            <a:ext cx="2926080" cy="2194560"/>
          </a:xfrm>
          <a:prstGeom prst="roundRect">
            <a:avLst>
              <a:gd name="adj" fmla="val 3333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97880" y="1463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26.6%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19659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traders expected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2286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2788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31546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Apple, Sep 30, 2026 · yearly rate · source: DoltHub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58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Traders' guesses are too high most of the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7490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3858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2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pay more to protect against drops than to bet on gains, especially in rough markets.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public, and already in hand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2588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DoltHub "options" database. Free, no signup. We ran live queries against it on Oct 1, 2026.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5623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2019 to Sep 30, 2026. New snapshots about 3 times a week.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 IT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38658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option: date, stock, expiration, strike, call or put, bid, ask, and implied volatility (the traders' guess). A second table has the guess and the actual move per stock.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227832"/>
            <a:ext cx="3063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150 rows per stock per snapshot. For ~10 well-known stocks we estimate 1M+ rows, all numeric tables.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91363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Low. A short Python script downloads it with SQL.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3068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28853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expiration dates per snapshot, and no trading volume.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1325880"/>
            <a:ext cx="3566160" cy="3337560"/>
          </a:xfrm>
          <a:prstGeom prst="roundRect">
            <a:avLst>
              <a:gd name="adj" fmla="val 219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14447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Apple's "smile" on Sep 30, 2026</a:t>
            </a:r>
            <a:endParaRPr lang="en-US" sz="12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120640" y="1691640"/>
          <a:ext cx="33832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212080" y="40416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3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real option expiring Oct 30. Options far from today's price (~$335) are priced for bigger moves, so the curve bends up like a smile.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prices to a tool anyone can 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&amp; clean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about 10 stocks with Python. Drop broken quotes (zero bids, extreme values). Line up dates across both tables.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889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each stock's smile, then see how it shifts over time and around big news.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stock move less than traders expected? We try logistic regression, a random forest, and clustering. Baseline: always guess "yes."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3258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E8F3F1"/>
          </a:solidFill>
          <a:ln w="12700">
            <a:solidFill>
              <a:srgbClr val="E8F3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3720" y="1490472"/>
            <a:ext cx="384048" cy="384048"/>
          </a:xfrm>
          <a:prstGeom prst="ellipse">
            <a:avLst/>
          </a:prstGeom>
          <a:solidFill>
            <a:srgbClr val="0F2A2A"/>
          </a:solidFill>
          <a:ln w="12700">
            <a:solidFill>
              <a:srgbClr val="0F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267712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page: pick a stock and date, see its smile and whether we think traders guessed too high.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7947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 TO FIND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guess too high most of the time, but not right before big drops.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37947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66344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 stocks, 2019 to 2026. Our direction may shift before the progress report.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deliver, and who does what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NOV 13 PROGRESS REPORT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dataset and scripts in our repo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0939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 charts, each tied to a question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963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models compared against the baseline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62656"/>
            <a:ext cx="91440" cy="91440"/>
          </a:xfrm>
          <a:prstGeom prst="ellipse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898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version of the interactive page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stock list, pull the data, and draw the first smile charts.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86200" y="1325880"/>
            <a:ext cx="4709160" cy="3337560"/>
          </a:xfrm>
          <a:prstGeom prst="roundRect">
            <a:avLst>
              <a:gd name="adj" fmla="val 2192"/>
            </a:avLst>
          </a:prstGeom>
          <a:solidFill>
            <a:srgbClr val="173B3A"/>
          </a:solidFill>
          <a:ln w="12700">
            <a:solidFill>
              <a:srgbClr val="173B3A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0" y="1444752"/>
          <a:ext cx="44348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92024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VISUALS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a curve to the smile shape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Smile chart; fit vs. 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regression: did traders guess too high?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vs. actual; accuracy by stock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on the same question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drives the prediction; errors over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stocks by smile shape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map; smiles by 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name 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test: expected vs. 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7D3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over time; heatmap by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3A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06908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7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member: 1 analysis + 2 visuals. Team extra: the interactive page.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the Smile - CS 418 Project Proposal</dc:title>
  <dc:subject>PptxGenJS Presentation</dc:subject>
  <dc:creator>PptxGenJS</dc:creator>
  <cp:lastModifiedBy>PptxGenJS</cp:lastModifiedBy>
  <cp:revision>1</cp:revision>
  <dcterms:created xsi:type="dcterms:W3CDTF">2026-10-01T21:03:18Z</dcterms:created>
  <dcterms:modified xsi:type="dcterms:W3CDTF">2026-10-01T21:03:18Z</dcterms:modified>
</cp:coreProperties>
</file>